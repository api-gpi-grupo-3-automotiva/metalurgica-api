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96" r:id="rId1"/>
  </p:sldMasterIdLst>
  <p:sldIdLst>
    <p:sldId id="256" r:id="rId2"/>
    <p:sldId id="261" r:id="rId3"/>
    <p:sldId id="262" r:id="rId4"/>
    <p:sldId id="258" r:id="rId5"/>
    <p:sldId id="260" r:id="rId6"/>
    <p:sldId id="267" r:id="rId7"/>
    <p:sldId id="263" r:id="rId8"/>
    <p:sldId id="264" r:id="rId9"/>
    <p:sldId id="266" r:id="rId10"/>
    <p:sldId id="265" r:id="rId11"/>
    <p:sldId id="268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5330B"/>
    <a:srgbClr val="1B2608"/>
    <a:srgbClr val="0E1404"/>
    <a:srgbClr val="FCE87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48"/>
  </p:normalViewPr>
  <p:slideViewPr>
    <p:cSldViewPr snapToGrid="0">
      <p:cViewPr varScale="1">
        <p:scale>
          <a:sx n="60" d="100"/>
          <a:sy n="60" d="100"/>
        </p:scale>
        <p:origin x="102" y="10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EA2CF1-0EB2-4673-802D-3371233E4A77}" type="datetime2">
              <a:rPr lang="en-US" smtClean="0"/>
              <a:t>Wednesday, December 3, 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 dirty="0"/>
              <a:t>Sample Footer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1B6DD-29C1-4FEA-923F-71EA1347694C}" type="slidenum">
              <a:rPr lang="en-US" smtClean="0"/>
              <a:t>‹nº›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54889294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EA2CF1-0EB2-4673-802D-3371233E4A77}" type="datetime2">
              <a:rPr lang="en-US" smtClean="0"/>
              <a:t>Wednesday, December 3, 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 dirty="0"/>
              <a:t>Sample Footer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1B6DD-29C1-4FEA-923F-71EA1347694C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0654212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EA2CF1-0EB2-4673-802D-3371233E4A77}" type="datetime2">
              <a:rPr lang="en-US" smtClean="0"/>
              <a:t>Wednesday, December 3, 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 dirty="0"/>
              <a:t>Sample Footer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1B6DD-29C1-4FEA-923F-71EA1347694C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9600485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EA2CF1-0EB2-4673-802D-3371233E4A77}" type="datetime2">
              <a:rPr lang="en-US" smtClean="0"/>
              <a:t>Wednesday, December 3, 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 dirty="0"/>
              <a:t>Sample Footer Text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1B6DD-29C1-4FEA-923F-71EA1347694C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6568370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EA2CF1-0EB2-4673-802D-3371233E4A77}" type="datetime2">
              <a:rPr lang="en-US" smtClean="0"/>
              <a:t>Wednesday, December 3, 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 dirty="0"/>
              <a:t>Sample Footer Text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1B6DD-29C1-4FEA-923F-71EA1347694C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4531048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EA2CF1-0EB2-4673-802D-3371233E4A77}" type="datetime2">
              <a:rPr lang="en-US" smtClean="0"/>
              <a:t>Wednesday, December 3, 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 dirty="0"/>
              <a:t>Sample Footer Text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1B6DD-29C1-4FEA-923F-71EA1347694C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9819533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EA2CF1-0EB2-4673-802D-3371233E4A77}" type="datetime2">
              <a:rPr lang="en-US" smtClean="0"/>
              <a:t>Wednesday, December 3, 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 dirty="0"/>
              <a:t>Sample Footer Text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1B6DD-29C1-4FEA-923F-71EA1347694C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9682860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EA2CF1-0EB2-4673-802D-3371233E4A77}" type="datetime2">
              <a:rPr lang="en-US" smtClean="0"/>
              <a:t>Wednesday, December 3, 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 dirty="0"/>
              <a:t>Sample Footer Text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1B6DD-29C1-4FEA-923F-71EA1347694C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0545768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 dirty="0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EA2CF1-0EB2-4673-802D-3371233E4A77}" type="datetime2">
              <a:rPr lang="en-US" smtClean="0"/>
              <a:t>Wednesday, December 3, 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 dirty="0"/>
              <a:t>Sample Footer Text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1B6DD-29C1-4FEA-923F-71EA1347694C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2326914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to Panorâmica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 dirty="0"/>
              <a:t>Clique no ícone para adicionar uma imagem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EA2CF1-0EB2-4673-802D-3371233E4A77}" type="datetime2">
              <a:rPr lang="en-US" smtClean="0"/>
              <a:t>Wednesday, December 3, 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 dirty="0"/>
              <a:t>Sample Footer Text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1B6DD-29C1-4FEA-923F-71EA1347694C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5540759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EA2CF1-0EB2-4673-802D-3371233E4A77}" type="datetime2">
              <a:rPr lang="en-US" smtClean="0"/>
              <a:t>Wednesday, December 3, 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 dirty="0"/>
              <a:t>Sample Footer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1B6DD-29C1-4FEA-923F-71EA1347694C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6924670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EA2CF1-0EB2-4673-802D-3371233E4A77}" type="datetime2">
              <a:rPr lang="en-US" smtClean="0"/>
              <a:t>Wednesday, December 3, 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 dirty="0"/>
              <a:t>Sample Footer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1B6DD-29C1-4FEA-923F-71EA1347694C}" type="slidenum">
              <a:rPr lang="en-US" smtClean="0"/>
              <a:t>‹nº›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062090803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EA2CF1-0EB2-4673-802D-3371233E4A77}" type="datetime2">
              <a:rPr lang="en-US" smtClean="0"/>
              <a:t>Wednesday, December 3, 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 dirty="0"/>
              <a:t>Sample Footer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1B6DD-29C1-4FEA-923F-71EA1347694C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0703036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o 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EA2CF1-0EB2-4673-802D-3371233E4A77}" type="datetime2">
              <a:rPr lang="en-US" smtClean="0"/>
              <a:t>Wednesday, December 3, 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 dirty="0"/>
              <a:t>Sample Footer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1B6DD-29C1-4FEA-923F-71EA1347694C}" type="slidenum">
              <a:rPr lang="en-US" smtClean="0"/>
              <a:t>‹nº›</a:t>
            </a:fld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8020575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iro ou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EA2CF1-0EB2-4673-802D-3371233E4A77}" type="datetime2">
              <a:rPr lang="en-US" smtClean="0"/>
              <a:t>Wednesday, December 3, 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 dirty="0"/>
              <a:t>Sample Footer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1B6DD-29C1-4FEA-923F-71EA1347694C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3694815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EA2CF1-0EB2-4673-802D-3371233E4A77}" type="datetime2">
              <a:rPr lang="en-US" smtClean="0"/>
              <a:t>Wednesday, December 3, 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 dirty="0"/>
              <a:t>Sample Footer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1B6DD-29C1-4FEA-923F-71EA1347694C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4648667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EA2CF1-0EB2-4673-802D-3371233E4A77}" type="datetime2">
              <a:rPr lang="en-US" smtClean="0"/>
              <a:t>Wednesday, December 3, 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 dirty="0"/>
              <a:t>Sample Footer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1B6DD-29C1-4FEA-923F-71EA1347694C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1733380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8DEA2CF1-0EB2-4673-802D-3371233E4A77}" type="datetime2">
              <a:rPr lang="en-US" smtClean="0"/>
              <a:t>Wednesday, December 3, 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pPr algn="l"/>
            <a:r>
              <a:rPr lang="en-US" dirty="0"/>
              <a:t>Sample Footer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1621B6DD-29C1-4FEA-923F-71EA1347694C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909690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708" r:id="rId12"/>
    <p:sldLayoutId id="2147483709" r:id="rId13"/>
    <p:sldLayoutId id="2147483710" r:id="rId14"/>
    <p:sldLayoutId id="2147483711" r:id="rId15"/>
    <p:sldLayoutId id="2147483712" r:id="rId16"/>
    <p:sldLayoutId id="2147483713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API-GPI-Grupo-6-Metalurgica/Metalurgica-API.git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3.jp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svg"/><Relationship Id="rId4" Type="http://schemas.openxmlformats.org/officeDocument/2006/relationships/image" Target="../media/image2.png"/><Relationship Id="rId9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0" y="1546670"/>
            <a:ext cx="7739743" cy="1780313"/>
          </a:xfrm>
        </p:spPr>
        <p:txBody>
          <a:bodyPr>
            <a:normAutofit/>
          </a:bodyPr>
          <a:lstStyle/>
          <a:p>
            <a:r>
              <a:rPr lang="pt-BR" sz="5000" dirty="0"/>
              <a:t>XII Feira de Soluções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04654" y="3322755"/>
            <a:ext cx="7598267" cy="527289"/>
          </a:xfrm>
        </p:spPr>
        <p:txBody>
          <a:bodyPr>
            <a:normAutofit fontScale="85000" lnSpcReduction="10000"/>
          </a:bodyPr>
          <a:lstStyle/>
          <a:p>
            <a:r>
              <a:rPr lang="pt-BR" sz="2800" b="1" dirty="0">
                <a:solidFill>
                  <a:schemeClr val="tx1"/>
                </a:solidFill>
              </a:rPr>
              <a:t>Análise de dados de importações e exportações</a:t>
            </a:r>
          </a:p>
        </p:txBody>
      </p:sp>
      <p:sp>
        <p:nvSpPr>
          <p:cNvPr id="5" name="Subtítulo 2"/>
          <p:cNvSpPr txBox="1"/>
          <p:nvPr/>
        </p:nvSpPr>
        <p:spPr>
          <a:xfrm>
            <a:off x="141475" y="5761969"/>
            <a:ext cx="7561445" cy="961560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txBody>
          <a:bodyPr vert="horz" lIns="0" tIns="0" rIns="0" bIns="0" rtlCol="0">
            <a:normAutofit/>
          </a:bodyPr>
          <a:lstStyle>
            <a:lvl1pPr marL="0" indent="0" algn="ctr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4"/>
              </a:buClr>
              <a:buFont typeface="The Hand Extrablack" panose="03070A02030502020204" pitchFamily="66" charset="0"/>
              <a:buNone/>
              <a:defRPr sz="2800" kern="1200" spc="20" baseline="0">
                <a:solidFill>
                  <a:schemeClr val="tx1">
                    <a:alpha val="58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4"/>
              </a:buClr>
              <a:buFont typeface="The Hand Extrablack" panose="03070A02030502020204" pitchFamily="66" charset="0"/>
              <a:buNone/>
              <a:defRPr sz="2000" kern="1200" spc="20" baseline="0">
                <a:solidFill>
                  <a:schemeClr val="tx1">
                    <a:alpha val="58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4"/>
              </a:buClr>
              <a:buFont typeface="The Hand Extrablack" panose="03070A02030502020204" pitchFamily="66" charset="0"/>
              <a:buNone/>
              <a:defRPr sz="1800" kern="1200" spc="20" baseline="0">
                <a:solidFill>
                  <a:schemeClr val="tx1">
                    <a:alpha val="58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4"/>
              </a:buClr>
              <a:buFont typeface="The Hand Extrablack" panose="03070A02030502020204" pitchFamily="66" charset="0"/>
              <a:buNone/>
              <a:defRPr sz="1600" kern="1200" spc="20" baseline="0">
                <a:solidFill>
                  <a:schemeClr val="tx1">
                    <a:alpha val="58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4"/>
              </a:buClr>
              <a:buFont typeface="The Hand Extrablack" panose="03070A02030502020204" pitchFamily="66" charset="0"/>
              <a:buNone/>
              <a:defRPr sz="1600" kern="1200" spc="20" baseline="0">
                <a:solidFill>
                  <a:schemeClr val="tx1">
                    <a:alpha val="58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dirty="0">
                <a:solidFill>
                  <a:schemeClr val="tx1"/>
                </a:solidFill>
              </a:rPr>
              <a:t>Cadeia Produtiva Metalúrgica (Usinagem) </a:t>
            </a:r>
          </a:p>
        </p:txBody>
      </p:sp>
      <p:sp>
        <p:nvSpPr>
          <p:cNvPr id="15" name="Subtítulo 2">
            <a:extLst>
              <a:ext uri="{FF2B5EF4-FFF2-40B4-BE49-F238E27FC236}">
                <a16:creationId xmlns:a16="http://schemas.microsoft.com/office/drawing/2014/main" id="{BBCB9E48-970F-20A3-7460-997D0988DF64}"/>
              </a:ext>
            </a:extLst>
          </p:cNvPr>
          <p:cNvSpPr txBox="1"/>
          <p:nvPr/>
        </p:nvSpPr>
        <p:spPr>
          <a:xfrm>
            <a:off x="10067597" y="5769185"/>
            <a:ext cx="1982927" cy="496603"/>
          </a:xfrm>
          <a:prstGeom prst="rect">
            <a:avLst/>
          </a:prstGeom>
          <a:noFill/>
        </p:spPr>
        <p:txBody>
          <a:bodyPr vert="horz" lIns="0" tIns="0" rIns="0" bIns="0" rtlCol="0">
            <a:normAutofit/>
          </a:bodyPr>
          <a:lstStyle>
            <a:lvl1pPr marL="0" indent="0" algn="ctr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4"/>
              </a:buClr>
              <a:buFont typeface="The Hand Extrablack" panose="03070A02030502020204" pitchFamily="66" charset="0"/>
              <a:buNone/>
              <a:defRPr sz="2800" kern="1200" spc="20" baseline="0">
                <a:solidFill>
                  <a:schemeClr val="tx1">
                    <a:alpha val="58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4"/>
              </a:buClr>
              <a:buFont typeface="The Hand Extrablack" panose="03070A02030502020204" pitchFamily="66" charset="0"/>
              <a:buNone/>
              <a:defRPr sz="2000" kern="1200" spc="20" baseline="0">
                <a:solidFill>
                  <a:schemeClr val="tx1">
                    <a:alpha val="58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4"/>
              </a:buClr>
              <a:buFont typeface="The Hand Extrablack" panose="03070A02030502020204" pitchFamily="66" charset="0"/>
              <a:buNone/>
              <a:defRPr sz="1800" kern="1200" spc="20" baseline="0">
                <a:solidFill>
                  <a:schemeClr val="tx1">
                    <a:alpha val="58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4"/>
              </a:buClr>
              <a:buFont typeface="The Hand Extrablack" panose="03070A02030502020204" pitchFamily="66" charset="0"/>
              <a:buNone/>
              <a:defRPr sz="1600" kern="1200" spc="20" baseline="0">
                <a:solidFill>
                  <a:schemeClr val="tx1">
                    <a:alpha val="58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4"/>
              </a:buClr>
              <a:buFont typeface="The Hand Extrablack" panose="03070A02030502020204" pitchFamily="66" charset="0"/>
              <a:buNone/>
              <a:defRPr sz="1600" kern="1200" spc="20" baseline="0">
                <a:solidFill>
                  <a:schemeClr val="tx1">
                    <a:alpha val="58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dirty="0">
                <a:solidFill>
                  <a:schemeClr val="tx1"/>
                </a:solidFill>
              </a:rPr>
              <a:t>04/12/2025</a:t>
            </a:r>
          </a:p>
        </p:txBody>
      </p:sp>
      <p:pic>
        <p:nvPicPr>
          <p:cNvPr id="4" name="Imagem 3" descr="Placa vermelha com letras brancas&#10;&#10;O conteúdo gerado por IA pode estar incorreto.">
            <a:extLst>
              <a:ext uri="{FF2B5EF4-FFF2-40B4-BE49-F238E27FC236}">
                <a16:creationId xmlns:a16="http://schemas.microsoft.com/office/drawing/2014/main" id="{E07067F6-D045-E643-FBEF-BFB72EFDB1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48" y="63026"/>
            <a:ext cx="2233510" cy="107208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0" y="63026"/>
            <a:ext cx="12191999" cy="1039633"/>
          </a:xfrm>
        </p:spPr>
        <p:txBody>
          <a:bodyPr vert="horz" wrap="square" lIns="0" tIns="0" rIns="0" bIns="0" rtlCol="0" anchor="b" anchorCtr="0">
            <a:normAutofit/>
          </a:bodyPr>
          <a:lstStyle/>
          <a:p>
            <a:pPr algn="ctr"/>
            <a:r>
              <a:rPr lang="pt-BR" sz="5000" b="1" spc="-100" dirty="0"/>
              <a:t>Integrantes</a:t>
            </a:r>
          </a:p>
        </p:txBody>
      </p:sp>
      <p:sp>
        <p:nvSpPr>
          <p:cNvPr id="3" name="CaixaDeTexto 2"/>
          <p:cNvSpPr txBox="1"/>
          <p:nvPr/>
        </p:nvSpPr>
        <p:spPr>
          <a:xfrm>
            <a:off x="390287" y="2749002"/>
            <a:ext cx="10662724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3200"/>
            </a:lvl1pPr>
          </a:lstStyle>
          <a:p>
            <a:r>
              <a:rPr lang="pt-BR" dirty="0"/>
              <a:t>Anderson Santos – Product Owner</a:t>
            </a:r>
          </a:p>
          <a:p>
            <a:r>
              <a:rPr lang="pt-BR" dirty="0"/>
              <a:t>José Sérgio dos Santos – Scrum Master</a:t>
            </a:r>
          </a:p>
          <a:p>
            <a:r>
              <a:rPr lang="pt-BR" dirty="0"/>
              <a:t>Luís Carlos Santos – Scrum Team</a:t>
            </a:r>
          </a:p>
          <a:p>
            <a:r>
              <a:rPr lang="pt-BR" dirty="0"/>
              <a:t>Sebastião Leandro de Araújo Tavares – Scrum Team</a:t>
            </a:r>
          </a:p>
        </p:txBody>
      </p:sp>
      <p:pic>
        <p:nvPicPr>
          <p:cNvPr id="7" name="Imagem 6" descr="Placa vermelha com letras brancas&#10;&#10;O conteúdo gerado por IA pode estar incorreto.">
            <a:extLst>
              <a:ext uri="{FF2B5EF4-FFF2-40B4-BE49-F238E27FC236}">
                <a16:creationId xmlns:a16="http://schemas.microsoft.com/office/drawing/2014/main" id="{26F81DF9-746D-E904-C092-3E2DDEF012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3026"/>
            <a:ext cx="2233510" cy="1039633"/>
          </a:xfrm>
          <a:prstGeom prst="rect">
            <a:avLst/>
          </a:prstGeom>
        </p:spPr>
      </p:pic>
      <p:pic>
        <p:nvPicPr>
          <p:cNvPr id="5" name="Imagem 4">
            <a:hlinkClick r:id="rId3"/>
            <a:extLst>
              <a:ext uri="{FF2B5EF4-FFF2-40B4-BE49-F238E27FC236}">
                <a16:creationId xmlns:a16="http://schemas.microsoft.com/office/drawing/2014/main" id="{B7835D30-02E8-4B95-8D38-C704AEA4642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0287" y="5848417"/>
            <a:ext cx="825264" cy="825264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20578AEC-88B4-4458-8083-177F3F0AE4AE}"/>
              </a:ext>
            </a:extLst>
          </p:cNvPr>
          <p:cNvSpPr txBox="1"/>
          <p:nvPr/>
        </p:nvSpPr>
        <p:spPr>
          <a:xfrm>
            <a:off x="1304688" y="5891717"/>
            <a:ext cx="188769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/>
              <a:t>Link GitHub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8C7783C1-BED7-4DC0-9FB9-FD06A1E8878E}"/>
              </a:ext>
            </a:extLst>
          </p:cNvPr>
          <p:cNvSpPr/>
          <p:nvPr/>
        </p:nvSpPr>
        <p:spPr>
          <a:xfrm>
            <a:off x="1304688" y="6304349"/>
            <a:ext cx="857725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dirty="0"/>
              <a:t>https://github.com/API-GPI-Grupo-6-Metalurgica/Metalurgica-API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61DA86E2-FE60-CF24-19D7-848C1031FC7F}"/>
              </a:ext>
            </a:extLst>
          </p:cNvPr>
          <p:cNvSpPr txBox="1"/>
          <p:nvPr/>
        </p:nvSpPr>
        <p:spPr>
          <a:xfrm>
            <a:off x="37148" y="1228397"/>
            <a:ext cx="12154852" cy="45550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/>
              <a:t>Analisar dados do governo, do site Comex Stat de importação e exportação da "Cadeia Produtiva Metalúrgica (Usinagem)".</a:t>
            </a:r>
          </a:p>
          <a:p>
            <a:r>
              <a:rPr lang="pt-BR" sz="2000" b="1" dirty="0"/>
              <a:t>Solução um Dashboard interativo que apresenta dados claros e objetivos</a:t>
            </a:r>
          </a:p>
          <a:p>
            <a:endParaRPr lang="pt-BR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dirty="0"/>
              <a:t>Valores de exportação e importação, saldo da balança comercial (Déficit ou Superávit) peso total (</a:t>
            </a:r>
            <a:r>
              <a:rPr lang="pt-BR" b="1" dirty="0"/>
              <a:t>KGL</a:t>
            </a:r>
            <a:r>
              <a:rPr lang="pt-BR" dirty="0"/>
              <a:t>) importado e exportado</a:t>
            </a:r>
          </a:p>
          <a:p>
            <a:endParaRPr lang="pt-BR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dirty="0"/>
              <a:t>Dados das cidades de Caçapava, São José dos Campos, Jacareí e Taubaté do estado de SP.</a:t>
            </a:r>
          </a:p>
          <a:p>
            <a:endParaRPr lang="pt-BR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dirty="0"/>
              <a:t>Dos anos de 2021 a 2025.</a:t>
            </a:r>
          </a:p>
          <a:p>
            <a:endParaRPr lang="pt-BR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dirty="0"/>
              <a:t>Principais produtos da cadeia produtiva mais importados e exportados.</a:t>
            </a:r>
          </a:p>
          <a:p>
            <a:endParaRPr lang="pt-BR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dirty="0"/>
              <a:t> Maiores parceiros comerciais das cidades relacionadas.</a:t>
            </a:r>
          </a:p>
          <a:p>
            <a:endParaRPr lang="pt-BR" sz="3200" dirty="0"/>
          </a:p>
        </p:txBody>
      </p:sp>
      <p:sp>
        <p:nvSpPr>
          <p:cNvPr id="7" name="Retângulo 6"/>
          <p:cNvSpPr/>
          <p:nvPr/>
        </p:nvSpPr>
        <p:spPr>
          <a:xfrm>
            <a:off x="7482326" y="5558298"/>
            <a:ext cx="4528456" cy="1065937"/>
          </a:xfrm>
          <a:prstGeom prst="rect">
            <a:avLst/>
          </a:prstGeom>
          <a:solidFill>
            <a:schemeClr val="tx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 dirty="0">
              <a:solidFill>
                <a:schemeClr val="bg1"/>
              </a:solidFill>
            </a:endParaRPr>
          </a:p>
          <a:p>
            <a:pPr algn="ctr"/>
            <a:r>
              <a:rPr lang="pt-BR" sz="2400" dirty="0">
                <a:solidFill>
                  <a:schemeClr val="bg1"/>
                </a:solidFill>
              </a:rPr>
              <a:t>P2 – Rubens Barreto</a:t>
            </a:r>
          </a:p>
          <a:p>
            <a:pPr algn="ctr"/>
            <a:r>
              <a:rPr lang="pt-BR" sz="2400" dirty="0">
                <a:solidFill>
                  <a:schemeClr val="bg1"/>
                </a:solidFill>
              </a:rPr>
              <a:t>M2 – Marcus Vinicius</a:t>
            </a:r>
          </a:p>
          <a:p>
            <a:pPr algn="ctr"/>
            <a:endParaRPr lang="pt-BR" sz="2400" dirty="0">
              <a:solidFill>
                <a:schemeClr val="bg1"/>
              </a:solidFill>
            </a:endParaRP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CE309FA6-8FE3-DB96-35CD-4D2EE081ADEC}"/>
              </a:ext>
            </a:extLst>
          </p:cNvPr>
          <p:cNvSpPr txBox="1">
            <a:spLocks/>
          </p:cNvSpPr>
          <p:nvPr/>
        </p:nvSpPr>
        <p:spPr>
          <a:xfrm>
            <a:off x="1" y="63026"/>
            <a:ext cx="12191998" cy="1072085"/>
          </a:xfrm>
          <a:prstGeom prst="rect">
            <a:avLst/>
          </a:prstGeom>
          <a:effectLst/>
        </p:spPr>
        <p:txBody>
          <a:bodyPr vert="horz" wrap="square" lIns="0" tIns="0" rIns="0" bIns="0" rtlCol="0" anchor="b" anchorCtr="0">
            <a:normAutofit fontScale="975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 cap="all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pt-BR" sz="5600" b="1" spc="-100" dirty="0"/>
              <a:t> </a:t>
            </a:r>
            <a:r>
              <a:rPr lang="pt-BR" sz="5100" b="1" spc="-100" dirty="0"/>
              <a:t>DESAFIO</a:t>
            </a:r>
          </a:p>
        </p:txBody>
      </p:sp>
      <p:pic>
        <p:nvPicPr>
          <p:cNvPr id="2" name="Imagem 1" descr="Placa vermelha com letras brancas&#10;&#10;O conteúdo gerado por IA pode estar incorreto.">
            <a:extLst>
              <a:ext uri="{FF2B5EF4-FFF2-40B4-BE49-F238E27FC236}">
                <a16:creationId xmlns:a16="http://schemas.microsoft.com/office/drawing/2014/main" id="{12880DE0-CC58-FBFE-113B-5B324A4966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48" y="156312"/>
            <a:ext cx="2233510" cy="10720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56378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1">
            <a:extLst>
              <a:ext uri="{FF2B5EF4-FFF2-40B4-BE49-F238E27FC236}">
                <a16:creationId xmlns:a16="http://schemas.microsoft.com/office/drawing/2014/main" id="{C017AC73-70CC-3982-EDA5-A3CF6B633D21}"/>
              </a:ext>
            </a:extLst>
          </p:cNvPr>
          <p:cNvSpPr txBox="1">
            <a:spLocks/>
          </p:cNvSpPr>
          <p:nvPr/>
        </p:nvSpPr>
        <p:spPr>
          <a:xfrm>
            <a:off x="0" y="122060"/>
            <a:ext cx="12192000" cy="794475"/>
          </a:xfrm>
          <a:prstGeom prst="rect">
            <a:avLst/>
          </a:prstGeom>
          <a:effectLst/>
        </p:spPr>
        <p:txBody>
          <a:bodyPr vert="horz" wrap="square" lIns="0" tIns="0" rIns="0" bIns="0" rtlCol="0" anchor="b" anchorCtr="0">
            <a:normAutofit fontScale="975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 cap="all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pt-BR" sz="5000" b="1" spc="-100" dirty="0"/>
              <a:t>TECNOLOGIAS</a:t>
            </a:r>
          </a:p>
        </p:txBody>
      </p:sp>
      <p:pic>
        <p:nvPicPr>
          <p:cNvPr id="2" name="Imagem 1" descr="Placa vermelha com letras brancas&#10;&#10;O conteúdo gerado por IA pode estar incorreto.">
            <a:extLst>
              <a:ext uri="{FF2B5EF4-FFF2-40B4-BE49-F238E27FC236}">
                <a16:creationId xmlns:a16="http://schemas.microsoft.com/office/drawing/2014/main" id="{671390F7-91B8-FA04-E331-D60A1B900E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4860"/>
            <a:ext cx="2233510" cy="794475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85720FFC-2124-4A61-B43E-33F6A74737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571" y="4102252"/>
            <a:ext cx="1579939" cy="1981293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A6096480-0B8C-4BD2-8A69-756ED51843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97412" y="1696609"/>
            <a:ext cx="1860687" cy="1981293"/>
          </a:xfrm>
          <a:prstGeom prst="rect">
            <a:avLst/>
          </a:prstGeom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617B84CC-6BC7-496D-A72A-C54319FBCD2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59572" y="4049959"/>
            <a:ext cx="1998630" cy="1889676"/>
          </a:xfrm>
          <a:prstGeom prst="rect">
            <a:avLst/>
          </a:prstGeom>
        </p:spPr>
      </p:pic>
      <p:pic>
        <p:nvPicPr>
          <p:cNvPr id="12" name="Imagem 11">
            <a:extLst>
              <a:ext uri="{FF2B5EF4-FFF2-40B4-BE49-F238E27FC236}">
                <a16:creationId xmlns:a16="http://schemas.microsoft.com/office/drawing/2014/main" id="{6B61CCFC-9538-40DA-8AB0-64DCFEF78AF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97412" y="4193870"/>
            <a:ext cx="1998630" cy="1889675"/>
          </a:xfrm>
          <a:prstGeom prst="rect">
            <a:avLst/>
          </a:prstGeom>
        </p:spPr>
      </p:pic>
      <p:pic>
        <p:nvPicPr>
          <p:cNvPr id="14" name="Imagem 13">
            <a:extLst>
              <a:ext uri="{FF2B5EF4-FFF2-40B4-BE49-F238E27FC236}">
                <a16:creationId xmlns:a16="http://schemas.microsoft.com/office/drawing/2014/main" id="{F5CB0032-C93E-437C-95E4-5E260AA2B5E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5176" y="1696609"/>
            <a:ext cx="2549412" cy="2025088"/>
          </a:xfrm>
          <a:prstGeom prst="rect">
            <a:avLst/>
          </a:prstGeom>
        </p:spPr>
      </p:pic>
      <p:pic>
        <p:nvPicPr>
          <p:cNvPr id="16" name="Imagem 15">
            <a:extLst>
              <a:ext uri="{FF2B5EF4-FFF2-40B4-BE49-F238E27FC236}">
                <a16:creationId xmlns:a16="http://schemas.microsoft.com/office/drawing/2014/main" id="{E225384D-4938-4467-97B2-AE58C82A1E0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55383" y="4148060"/>
            <a:ext cx="1998630" cy="1889676"/>
          </a:xfrm>
          <a:prstGeom prst="rect">
            <a:avLst/>
          </a:prstGeom>
        </p:spPr>
      </p:pic>
      <p:pic>
        <p:nvPicPr>
          <p:cNvPr id="18" name="Gráfico 17">
            <a:extLst>
              <a:ext uri="{FF2B5EF4-FFF2-40B4-BE49-F238E27FC236}">
                <a16:creationId xmlns:a16="http://schemas.microsoft.com/office/drawing/2014/main" id="{CB5370C6-DBCD-4750-BEC3-0986C926C48B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372720" y="1740404"/>
            <a:ext cx="1981293" cy="1981293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D835542E-ACB1-4297-8468-9162220D395B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346313" y="1696609"/>
            <a:ext cx="1883008" cy="188300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 descr="Placa vermelha com letras brancas&#10;&#10;O conteúdo gerado por IA pode estar incorreto.">
            <a:extLst>
              <a:ext uri="{FF2B5EF4-FFF2-40B4-BE49-F238E27FC236}">
                <a16:creationId xmlns:a16="http://schemas.microsoft.com/office/drawing/2014/main" id="{A95E8938-CEE7-AD00-E869-66BA0235F9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6814"/>
            <a:ext cx="2043953" cy="860338"/>
          </a:xfrm>
          <a:prstGeom prst="rect">
            <a:avLst/>
          </a:prstGeom>
        </p:spPr>
      </p:pic>
      <p:sp>
        <p:nvSpPr>
          <p:cNvPr id="8" name="Título 1">
            <a:extLst>
              <a:ext uri="{FF2B5EF4-FFF2-40B4-BE49-F238E27FC236}">
                <a16:creationId xmlns:a16="http://schemas.microsoft.com/office/drawing/2014/main" id="{CA62A520-912B-4D3D-AB4D-56E739139ED1}"/>
              </a:ext>
            </a:extLst>
          </p:cNvPr>
          <p:cNvSpPr txBox="1">
            <a:spLocks/>
          </p:cNvSpPr>
          <p:nvPr/>
        </p:nvSpPr>
        <p:spPr>
          <a:xfrm>
            <a:off x="1506071" y="116814"/>
            <a:ext cx="9179858" cy="860338"/>
          </a:xfrm>
          <a:prstGeom prst="rect">
            <a:avLst/>
          </a:prstGeom>
          <a:effectLst/>
        </p:spPr>
        <p:txBody>
          <a:bodyPr vert="horz" wrap="square" lIns="0" tIns="0" rIns="0" bIns="0" rtlCol="0" anchor="b" anchorCtr="0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 cap="all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pt-BR" sz="2800" b="1" spc="-100" dirty="0"/>
              <a:t>Dados importação, Exportação e balança Comercial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92DA06C2-6AED-4709-824A-94EB9BFBF2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470" y="1090862"/>
            <a:ext cx="11932023" cy="565032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 descr="Placa vermelha com letras brancas&#10;&#10;O conteúdo gerado por IA pode estar incorreto.">
            <a:extLst>
              <a:ext uri="{FF2B5EF4-FFF2-40B4-BE49-F238E27FC236}">
                <a16:creationId xmlns:a16="http://schemas.microsoft.com/office/drawing/2014/main" id="{A95E8938-CEE7-AD00-E869-66BA0235F9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6814"/>
            <a:ext cx="2043953" cy="860338"/>
          </a:xfrm>
          <a:prstGeom prst="rect">
            <a:avLst/>
          </a:prstGeom>
        </p:spPr>
      </p:pic>
      <p:sp>
        <p:nvSpPr>
          <p:cNvPr id="8" name="Título 1">
            <a:extLst>
              <a:ext uri="{FF2B5EF4-FFF2-40B4-BE49-F238E27FC236}">
                <a16:creationId xmlns:a16="http://schemas.microsoft.com/office/drawing/2014/main" id="{CA62A520-912B-4D3D-AB4D-56E739139ED1}"/>
              </a:ext>
            </a:extLst>
          </p:cNvPr>
          <p:cNvSpPr txBox="1">
            <a:spLocks/>
          </p:cNvSpPr>
          <p:nvPr/>
        </p:nvSpPr>
        <p:spPr>
          <a:xfrm>
            <a:off x="1953372" y="116814"/>
            <a:ext cx="9179858" cy="860338"/>
          </a:xfrm>
          <a:prstGeom prst="rect">
            <a:avLst/>
          </a:prstGeom>
          <a:effectLst/>
        </p:spPr>
        <p:txBody>
          <a:bodyPr vert="horz" wrap="square" lIns="0" tIns="0" rIns="0" bIns="0" rtlCol="0" anchor="b" anchorCtr="0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 cap="all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pt-BR" sz="2800" b="1" spc="-100" dirty="0"/>
              <a:t>Dados ( KPI ) importação, Exportação e balança Comercial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70B8E0BA-00EE-4EF7-B2BB-D84B34C50F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21" y="1094874"/>
            <a:ext cx="12007516" cy="5646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7634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 descr="Placa vermelha com letras brancas&#10;&#10;O conteúdo gerado por IA pode estar incorreto.">
            <a:extLst>
              <a:ext uri="{FF2B5EF4-FFF2-40B4-BE49-F238E27FC236}">
                <a16:creationId xmlns:a16="http://schemas.microsoft.com/office/drawing/2014/main" id="{A95E8938-CEE7-AD00-E869-66BA0235F9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75016" y="63025"/>
            <a:ext cx="2233510" cy="826167"/>
          </a:xfrm>
          <a:prstGeom prst="rect">
            <a:avLst/>
          </a:prstGeom>
        </p:spPr>
      </p:pic>
      <p:sp>
        <p:nvSpPr>
          <p:cNvPr id="10" name="Título 1">
            <a:extLst>
              <a:ext uri="{FF2B5EF4-FFF2-40B4-BE49-F238E27FC236}">
                <a16:creationId xmlns:a16="http://schemas.microsoft.com/office/drawing/2014/main" id="{20CDE071-0A37-4B56-9390-8DEFE28CA5D9}"/>
              </a:ext>
            </a:extLst>
          </p:cNvPr>
          <p:cNvSpPr txBox="1">
            <a:spLocks/>
          </p:cNvSpPr>
          <p:nvPr/>
        </p:nvSpPr>
        <p:spPr>
          <a:xfrm>
            <a:off x="2886635" y="63297"/>
            <a:ext cx="6418729" cy="826166"/>
          </a:xfrm>
          <a:prstGeom prst="rect">
            <a:avLst/>
          </a:prstGeom>
          <a:effectLst/>
        </p:spPr>
        <p:txBody>
          <a:bodyPr vert="horz" wrap="square" lIns="0" tIns="0" rIns="0" bIns="0" rtlCol="0" anchor="b" anchorCtr="0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 cap="all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pt-BR" sz="2800" b="1" spc="-100" dirty="0"/>
              <a:t>     dados mensais do ano de 2024 da cidade de (SJC)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C6262005-22D8-4C00-B2E8-DB7E732DE1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541" y="1042737"/>
            <a:ext cx="11967884" cy="5680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1433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1">
            <a:extLst>
              <a:ext uri="{FF2B5EF4-FFF2-40B4-BE49-F238E27FC236}">
                <a16:creationId xmlns:a16="http://schemas.microsoft.com/office/drawing/2014/main" id="{5BF5254A-FF7C-692F-2950-597A37876C76}"/>
              </a:ext>
            </a:extLst>
          </p:cNvPr>
          <p:cNvSpPr txBox="1">
            <a:spLocks/>
          </p:cNvSpPr>
          <p:nvPr/>
        </p:nvSpPr>
        <p:spPr>
          <a:xfrm>
            <a:off x="2173705" y="132878"/>
            <a:ext cx="7844590" cy="826167"/>
          </a:xfrm>
          <a:prstGeom prst="rect">
            <a:avLst/>
          </a:prstGeom>
          <a:effectLst/>
        </p:spPr>
        <p:txBody>
          <a:bodyPr vert="horz" wrap="square" lIns="0" tIns="0" rIns="0" bIns="0" rtlCol="0" anchor="b" anchorCtr="0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 cap="all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pt-BR" sz="2800" b="1" spc="-100" dirty="0"/>
              <a:t>Principais parceiros comerciais e produtos comercializados </a:t>
            </a:r>
          </a:p>
        </p:txBody>
      </p:sp>
      <p:pic>
        <p:nvPicPr>
          <p:cNvPr id="2" name="Imagem 1" descr="Placa vermelha com letras brancas&#10;&#10;O conteúdo gerado por IA pode estar incorreto.">
            <a:extLst>
              <a:ext uri="{FF2B5EF4-FFF2-40B4-BE49-F238E27FC236}">
                <a16:creationId xmlns:a16="http://schemas.microsoft.com/office/drawing/2014/main" id="{A95E8938-CEE7-AD00-E869-66BA0235F9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48" y="132878"/>
            <a:ext cx="2044668" cy="826167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B872ECCB-9013-41CC-BFAF-13B5B0847E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576" y="1074822"/>
            <a:ext cx="11958918" cy="5650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35686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1">
            <a:extLst>
              <a:ext uri="{FF2B5EF4-FFF2-40B4-BE49-F238E27FC236}">
                <a16:creationId xmlns:a16="http://schemas.microsoft.com/office/drawing/2014/main" id="{5BF5254A-FF7C-692F-2950-597A37876C76}"/>
              </a:ext>
            </a:extLst>
          </p:cNvPr>
          <p:cNvSpPr txBox="1">
            <a:spLocks/>
          </p:cNvSpPr>
          <p:nvPr/>
        </p:nvSpPr>
        <p:spPr>
          <a:xfrm>
            <a:off x="5001126" y="-23539"/>
            <a:ext cx="2189748" cy="826167"/>
          </a:xfrm>
          <a:prstGeom prst="rect">
            <a:avLst/>
          </a:prstGeom>
          <a:effectLst/>
        </p:spPr>
        <p:txBody>
          <a:bodyPr vert="horz" wrap="square" lIns="0" tIns="0" rIns="0" bIns="0" rtlCol="0" anchor="b" anchorCtr="0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 cap="all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pt-BR" sz="2800" b="1" spc="-100" dirty="0"/>
              <a:t>conclusão</a:t>
            </a:r>
          </a:p>
        </p:txBody>
      </p:sp>
      <p:pic>
        <p:nvPicPr>
          <p:cNvPr id="2" name="Imagem 1" descr="Placa vermelha com letras brancas&#10;&#10;O conteúdo gerado por IA pode estar incorreto.">
            <a:extLst>
              <a:ext uri="{FF2B5EF4-FFF2-40B4-BE49-F238E27FC236}">
                <a16:creationId xmlns:a16="http://schemas.microsoft.com/office/drawing/2014/main" id="{A95E8938-CEE7-AD00-E869-66BA0235F9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48" y="132878"/>
            <a:ext cx="2044668" cy="826167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B5AB7FA6-F865-453F-8456-7ECD870F8E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18" y="1090863"/>
            <a:ext cx="5952564" cy="5634259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B1E6B869-CD53-4850-961F-3B82B7567A0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1090862"/>
            <a:ext cx="6024282" cy="5634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5576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1">
            <a:extLst>
              <a:ext uri="{FF2B5EF4-FFF2-40B4-BE49-F238E27FC236}">
                <a16:creationId xmlns:a16="http://schemas.microsoft.com/office/drawing/2014/main" id="{5BF5254A-FF7C-692F-2950-597A37876C76}"/>
              </a:ext>
            </a:extLst>
          </p:cNvPr>
          <p:cNvSpPr txBox="1">
            <a:spLocks/>
          </p:cNvSpPr>
          <p:nvPr/>
        </p:nvSpPr>
        <p:spPr>
          <a:xfrm>
            <a:off x="5001126" y="-23539"/>
            <a:ext cx="2189748" cy="826167"/>
          </a:xfrm>
          <a:prstGeom prst="rect">
            <a:avLst/>
          </a:prstGeom>
          <a:effectLst/>
        </p:spPr>
        <p:txBody>
          <a:bodyPr vert="horz" wrap="square" lIns="0" tIns="0" rIns="0" bIns="0" rtlCol="0" anchor="b" anchorCtr="0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 cap="all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pt-BR" sz="2800" b="1" spc="-100" dirty="0"/>
              <a:t>conclusão</a:t>
            </a:r>
          </a:p>
        </p:txBody>
      </p:sp>
      <p:pic>
        <p:nvPicPr>
          <p:cNvPr id="2" name="Imagem 1" descr="Placa vermelha com letras brancas&#10;&#10;O conteúdo gerado por IA pode estar incorreto.">
            <a:extLst>
              <a:ext uri="{FF2B5EF4-FFF2-40B4-BE49-F238E27FC236}">
                <a16:creationId xmlns:a16="http://schemas.microsoft.com/office/drawing/2014/main" id="{A95E8938-CEE7-AD00-E869-66BA0235F9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48" y="132878"/>
            <a:ext cx="2044668" cy="826167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5A3E758F-B890-4CC0-B277-CEBB55B2C7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46" y="1096479"/>
            <a:ext cx="6006354" cy="2789617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7A98EE79-C8B4-4136-A278-B049F926E3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67718" y="1096478"/>
            <a:ext cx="5934635" cy="2789618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F60E7C6D-B0FD-4538-BFAE-2A01BAFC49F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646" y="3935506"/>
            <a:ext cx="12012707" cy="2789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25090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1">
            <a:extLst>
              <a:ext uri="{FF2B5EF4-FFF2-40B4-BE49-F238E27FC236}">
                <a16:creationId xmlns:a16="http://schemas.microsoft.com/office/drawing/2014/main" id="{5BF5254A-FF7C-692F-2950-597A37876C76}"/>
              </a:ext>
            </a:extLst>
          </p:cNvPr>
          <p:cNvSpPr txBox="1">
            <a:spLocks/>
          </p:cNvSpPr>
          <p:nvPr/>
        </p:nvSpPr>
        <p:spPr>
          <a:xfrm>
            <a:off x="3861252" y="2687028"/>
            <a:ext cx="4469495" cy="1483944"/>
          </a:xfrm>
          <a:prstGeom prst="rect">
            <a:avLst/>
          </a:prstGeom>
          <a:effectLst/>
        </p:spPr>
        <p:txBody>
          <a:bodyPr vert="horz" wrap="square" lIns="0" tIns="0" rIns="0" bIns="0" rtlCol="0" anchor="b" anchorCtr="0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 cap="all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pt-BR" sz="4800" b="1" spc="-100" dirty="0"/>
              <a:t>Muito obrigado!</a:t>
            </a:r>
          </a:p>
        </p:txBody>
      </p:sp>
      <p:pic>
        <p:nvPicPr>
          <p:cNvPr id="2" name="Imagem 1" descr="Placa vermelha com letras brancas&#10;&#10;O conteúdo gerado por IA pode estar incorreto.">
            <a:extLst>
              <a:ext uri="{FF2B5EF4-FFF2-40B4-BE49-F238E27FC236}">
                <a16:creationId xmlns:a16="http://schemas.microsoft.com/office/drawing/2014/main" id="{A95E8938-CEE7-AD00-E869-66BA0235F9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48" y="132878"/>
            <a:ext cx="2044668" cy="8261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2168190"/>
      </p:ext>
    </p:extLst>
  </p:cSld>
  <p:clrMapOvr>
    <a:masterClrMapping/>
  </p:clrMapOvr>
</p:sld>
</file>

<file path=ppt/theme/theme1.xml><?xml version="1.0" encoding="utf-8"?>
<a:theme xmlns:a="http://schemas.openxmlformats.org/drawingml/2006/main" name="Fatia">
  <a:themeElements>
    <a:clrScheme name="Fatia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Fatia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Fatia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408</TotalTime>
  <Words>206</Words>
  <Application>Microsoft Office PowerPoint</Application>
  <PresentationFormat>Widescreen</PresentationFormat>
  <Paragraphs>35</Paragraphs>
  <Slides>11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11</vt:i4>
      </vt:variant>
    </vt:vector>
  </HeadingPairs>
  <TitlesOfParts>
    <vt:vector size="16" baseType="lpstr">
      <vt:lpstr>Arial</vt:lpstr>
      <vt:lpstr>Century Gothic</vt:lpstr>
      <vt:lpstr>The Hand Extrablack</vt:lpstr>
      <vt:lpstr>Wingdings 3</vt:lpstr>
      <vt:lpstr>Fatia</vt:lpstr>
      <vt:lpstr>XII Feira de Soluções</vt:lpstr>
      <vt:lpstr>Integrantes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XII Feira de Soluções</dc:title>
  <dc:creator>Fabiano Sabha</dc:creator>
  <cp:lastModifiedBy>JOSE SERGIO DOS SANTOS</cp:lastModifiedBy>
  <cp:revision>50</cp:revision>
  <dcterms:created xsi:type="dcterms:W3CDTF">2024-06-04T15:06:00Z</dcterms:created>
  <dcterms:modified xsi:type="dcterms:W3CDTF">2025-12-03T23:52:00Z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123EC1BF99294417B08FEDD505CC8C1E_12</vt:lpwstr>
  </property>
  <property fmtid="{D5CDD505-2E9C-101B-9397-08002B2CF9AE}" pid="3" name="KSOProductBuildVer">
    <vt:lpwstr>1046-12.2.0.21179</vt:lpwstr>
  </property>
</Properties>
</file>